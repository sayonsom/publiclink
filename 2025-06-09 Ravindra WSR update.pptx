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kinsoku lang="ko-KR" invalStChars="、。，．：；？！’”）〕］｝〉》」』】°℃％!%￠),.:;?]}&gt;" invalEndChars="‘“（〔［｛〈《「『【￥＄\￦￡€([{&lt;$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997"/>
    <a:srgbClr val="023560"/>
    <a:srgbClr val="80B8DE"/>
    <a:srgbClr val="F0EEEB"/>
    <a:srgbClr val="015E9F"/>
    <a:srgbClr val="C4C4C4"/>
    <a:srgbClr val="16314A"/>
    <a:srgbClr val="0271BE"/>
    <a:srgbClr val="02497F"/>
    <a:srgbClr val="007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510D-9CBF-48B8-B49D-7C2C70CB7619}" type="datetimeFigureOut">
              <a:rPr lang="en-IN" smtClean="0"/>
              <a:t>09/06/25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8A22E-94AE-4BA2-83A9-2EC688048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32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F5D85323-5137-48B4-AF1F-864E3C6A3D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1182" y="2587443"/>
            <a:ext cx="8420100" cy="446466"/>
          </a:xfrm>
          <a:prstGeom prst="rect">
            <a:avLst/>
          </a:prstGeom>
        </p:spPr>
        <p:txBody>
          <a:bodyPr vert="horz" wrap="none" lIns="0" tIns="45720" rIns="91440" bIns="45720" rtlCol="0" anchor="ctr" anchorCtr="0">
            <a:noAutofit/>
          </a:bodyPr>
          <a:lstStyle>
            <a:lvl1pPr marL="0" indent="0">
              <a:buNone/>
              <a:defRPr lang="ko-KR" altLang="en-US" sz="3000" b="1" spc="0" baseline="0">
                <a:ln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fontAlgn="t" latinLnBrk="0">
              <a:spcBef>
                <a:spcPct val="0"/>
              </a:spcBef>
            </a:pPr>
            <a:r>
              <a:rPr lang="en-US" altLang="ko-KR" dirty="0"/>
              <a:t>Subtitle here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93A6A503-A699-45F7-937C-A305007B2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1182" y="1746167"/>
            <a:ext cx="8420100" cy="78483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5000" b="1"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 dirty="0"/>
              <a:t>Write Your Main Title</a:t>
            </a:r>
            <a:endParaRPr lang="ko-KR" altLang="en-US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D43F5BA6-BDBA-4409-AB3B-EBCB162F77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140" y="364503"/>
            <a:ext cx="2298582" cy="241956"/>
          </a:xfrm>
          <a:prstGeom prst="rect">
            <a:avLst/>
          </a:prstGeom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A34DD8E-4C6A-4BD4-BA64-C9ACB1132B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0707" y="4510672"/>
            <a:ext cx="4259014" cy="27238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3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Organization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E0422AF-60D7-48BF-B194-1C11A9FFB6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707" y="4809763"/>
            <a:ext cx="4259014" cy="27238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13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Date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54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DE94C17-8243-4EC5-84ED-D32458C1BC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187"/>
          <a:stretch/>
        </p:blipFill>
        <p:spPr>
          <a:xfrm>
            <a:off x="2467" y="0"/>
            <a:ext cx="6436433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5A37A07-4BC7-48AD-B000-A98A4FC170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9695" y="1459366"/>
            <a:ext cx="2754664" cy="614011"/>
          </a:xfrm>
          <a:prstGeom prst="rect">
            <a:avLst/>
          </a:prstGeom>
        </p:spPr>
        <p:txBody>
          <a:bodyPr/>
          <a:lstStyle>
            <a:lvl1pPr>
              <a:defRPr sz="4500" b="1" spc="0">
                <a:solidFill>
                  <a:schemeClr val="bg1"/>
                </a:solidFill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F6461-C051-439D-8CCD-29C2FBDE1397}"/>
              </a:ext>
            </a:extLst>
          </p:cNvPr>
          <p:cNvSpPr txBox="1"/>
          <p:nvPr userDrawn="1"/>
        </p:nvSpPr>
        <p:spPr>
          <a:xfrm>
            <a:off x="6046991" y="6627033"/>
            <a:ext cx="60973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US" altLang="ko-KR" sz="700" b="1" dirty="0">
                <a:solidFill>
                  <a:srgbClr val="A4A8A9"/>
                </a:solidFill>
              </a:rPr>
              <a:t>2022 Samsung Research. All rights reserved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2AB06FA6-86F6-470A-8B49-0B132EC72D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5017" y="364503"/>
            <a:ext cx="2298582" cy="241956"/>
          </a:xfrm>
          <a:prstGeom prst="rect">
            <a:avLst/>
          </a:prstGeom>
        </p:spPr>
      </p:pic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4A023A9B-A812-4B70-BB17-B67E734C1B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954" y="1637404"/>
            <a:ext cx="5567749" cy="5078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ko-KR" dirty="0"/>
              <a:t>Insert your section title</a:t>
            </a:r>
            <a:endParaRPr lang="ko-KR" altLang="en-US" dirty="0"/>
          </a:p>
        </p:txBody>
      </p:sp>
      <p:sp>
        <p:nvSpPr>
          <p:cNvPr id="14" name="텍스트 개체 틀 11">
            <a:extLst>
              <a:ext uri="{FF2B5EF4-FFF2-40B4-BE49-F238E27FC236}">
                <a16:creationId xmlns:a16="http://schemas.microsoft.com/office/drawing/2014/main" id="{F1ECC419-CEA6-452A-B199-0EA0C7B030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84800" y="2291976"/>
            <a:ext cx="5567363" cy="591073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150000"/>
              </a:lnSpc>
              <a:buSzPct val="70000"/>
              <a:buFontTx/>
              <a:buBlip>
                <a:blip r:embed="rId5"/>
              </a:buBlip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ko-KR" dirty="0"/>
              <a:t>Write text here</a:t>
            </a:r>
          </a:p>
        </p:txBody>
      </p:sp>
    </p:spTree>
    <p:extLst>
      <p:ext uri="{BB962C8B-B14F-4D97-AF65-F5344CB8AC3E}">
        <p14:creationId xmlns:p14="http://schemas.microsoft.com/office/powerpoint/2010/main" val="264432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D6D72-1504-4573-BDE6-162E9BE3641F}"/>
              </a:ext>
            </a:extLst>
          </p:cNvPr>
          <p:cNvSpPr txBox="1"/>
          <p:nvPr userDrawn="1"/>
        </p:nvSpPr>
        <p:spPr>
          <a:xfrm>
            <a:off x="53784" y="6620749"/>
            <a:ext cx="60973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700" b="1" dirty="0">
                <a:solidFill>
                  <a:srgbClr val="A4A8A9"/>
                </a:solidFill>
              </a:rPr>
              <a:t>2025 Samsung Research. All rights reserved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E3CC8A10-F08E-4C19-A4E2-CBBA324B6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1138" y="241344"/>
            <a:ext cx="1683993" cy="17726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C2DBC20-BF68-4C7B-AF44-5055953AE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9621" y="233344"/>
            <a:ext cx="7404279" cy="461315"/>
          </a:xfrm>
          <a:prstGeom prst="rect">
            <a:avLst/>
          </a:prstGeom>
        </p:spPr>
        <p:txBody>
          <a:bodyPr wrap="none" lIns="0" anchor="ctr"/>
          <a:lstStyle>
            <a:lvl1pPr>
              <a:defRPr sz="2700" b="1"/>
            </a:lvl1pPr>
          </a:lstStyle>
          <a:p>
            <a:r>
              <a:rPr lang="en-US" altLang="ko-KR" dirty="0"/>
              <a:t>Insert your section title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7A1DC18-FCD8-4E19-9701-70263FDCBF4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90537" y="2156460"/>
            <a:ext cx="11219325" cy="4050030"/>
          </a:xfrm>
          <a:prstGeom prst="rect">
            <a:avLst/>
          </a:prstGeom>
        </p:spPr>
        <p:txBody>
          <a:bodyPr lIns="90000" rIns="90000"/>
          <a:lstStyle>
            <a:lvl1pPr marL="0" indent="0" latinLnBrk="0">
              <a:buFontTx/>
              <a:buNone/>
              <a:defRPr lang="ko-KR" altLang="en-US" sz="1800" spc="-30" baseline="0">
                <a:solidFill>
                  <a:schemeClr val="bg1"/>
                </a:solidFill>
              </a:defRPr>
            </a:lvl1pPr>
            <a:lvl2pPr>
              <a:defRPr lang="ko-KR" altLang="en-US"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ko-KR" altLang="en-US"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ko-KR" altLang="en-US"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ko-KR" altLang="en-US"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L="228600" lvl="0" indent="-22860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8" name="텍스트 개체 틀 11">
            <a:extLst>
              <a:ext uri="{FF2B5EF4-FFF2-40B4-BE49-F238E27FC236}">
                <a16:creationId xmlns:a16="http://schemas.microsoft.com/office/drawing/2014/main" id="{414A88EC-1E1E-4B64-8F53-5C67ABFBE9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0537" y="1244227"/>
            <a:ext cx="11219325" cy="641723"/>
          </a:xfrm>
          <a:prstGeom prst="rect">
            <a:avLst/>
          </a:prstGeom>
        </p:spPr>
        <p:txBody>
          <a:bodyPr/>
          <a:lstStyle>
            <a:lvl1pPr marL="361950" indent="-361950">
              <a:lnSpc>
                <a:spcPct val="100000"/>
              </a:lnSpc>
              <a:buSzPct val="70000"/>
              <a:buFontTx/>
              <a:buBlip>
                <a:blip r:embed="rId4"/>
              </a:buBlip>
              <a:defRPr sz="3500" b="1"/>
            </a:lvl1pPr>
          </a:lstStyle>
          <a:p>
            <a:pPr lvl="0"/>
            <a:r>
              <a:rPr lang="en-US" altLang="ko-KR" dirty="0"/>
              <a:t>Write text here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073F519-FE2F-4755-94E1-AD4297862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2"/>
          <a:stretch/>
        </p:blipFill>
        <p:spPr>
          <a:xfrm>
            <a:off x="2467" y="0"/>
            <a:ext cx="12187066" cy="97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0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CAFAD3B0-4F00-4FA1-B926-692B4BB34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2"/>
          <a:stretch/>
        </p:blipFill>
        <p:spPr>
          <a:xfrm>
            <a:off x="2467" y="0"/>
            <a:ext cx="12187066" cy="973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8D6D72-1504-4573-BDE6-162E9BE3641F}"/>
              </a:ext>
            </a:extLst>
          </p:cNvPr>
          <p:cNvSpPr txBox="1"/>
          <p:nvPr userDrawn="1"/>
        </p:nvSpPr>
        <p:spPr>
          <a:xfrm>
            <a:off x="53784" y="6620749"/>
            <a:ext cx="60973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700" b="1" dirty="0">
                <a:solidFill>
                  <a:srgbClr val="A4A8A9"/>
                </a:solidFill>
              </a:rPr>
              <a:t>2025 Samsung Research. All rights reserved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E3CC8A10-F08E-4C19-A4E2-CBBA324B68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1138" y="241344"/>
            <a:ext cx="1683993" cy="17726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C2DBC20-BF68-4C7B-AF44-5055953AE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9621" y="233344"/>
            <a:ext cx="7404279" cy="461315"/>
          </a:xfrm>
          <a:prstGeom prst="rect">
            <a:avLst/>
          </a:prstGeom>
        </p:spPr>
        <p:txBody>
          <a:bodyPr wrap="none" lIns="0" anchor="ctr"/>
          <a:lstStyle>
            <a:lvl1pPr>
              <a:defRPr sz="2700" b="1"/>
            </a:lvl1pPr>
          </a:lstStyle>
          <a:p>
            <a:r>
              <a:rPr lang="en-US" altLang="ko-KR" dirty="0"/>
              <a:t>Insert your section title</a:t>
            </a:r>
            <a:endParaRPr lang="ko-KR" altLang="en-US" dirty="0"/>
          </a:p>
        </p:txBody>
      </p:sp>
      <p:sp>
        <p:nvSpPr>
          <p:cNvPr id="6" name="텍스트 개체 틀 11">
            <a:extLst>
              <a:ext uri="{FF2B5EF4-FFF2-40B4-BE49-F238E27FC236}">
                <a16:creationId xmlns:a16="http://schemas.microsoft.com/office/drawing/2014/main" id="{DDA98D12-929B-4DA3-A8B1-DDCECE4F66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0537" y="1244227"/>
            <a:ext cx="11219325" cy="641723"/>
          </a:xfrm>
          <a:prstGeom prst="rect">
            <a:avLst/>
          </a:prstGeom>
        </p:spPr>
        <p:txBody>
          <a:bodyPr/>
          <a:lstStyle>
            <a:lvl1pPr marL="361950" indent="-361950">
              <a:lnSpc>
                <a:spcPct val="100000"/>
              </a:lnSpc>
              <a:buSzPct val="70000"/>
              <a:buFontTx/>
              <a:buBlip>
                <a:blip r:embed="rId5"/>
              </a:buBlip>
              <a:defRPr sz="3500" b="1"/>
            </a:lvl1pPr>
          </a:lstStyle>
          <a:p>
            <a:pPr lvl="0"/>
            <a:r>
              <a:rPr lang="en-US" altLang="ko-KR" dirty="0"/>
              <a:t>Write text here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B86D94C-56B7-4F16-B0E1-E450409451E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90537" y="2156460"/>
            <a:ext cx="3624263" cy="4004310"/>
          </a:xfrm>
          <a:prstGeom prst="rect">
            <a:avLst/>
          </a:prstGeom>
          <a:ln w="9525">
            <a:solidFill>
              <a:srgbClr val="C4C4C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54800" tIns="126000" rIns="154800" bIns="126000"/>
          <a:lstStyle>
            <a:lvl1pPr marL="0" indent="0">
              <a:buNone/>
              <a:defRPr lang="ko-KR" altLang="en-US" sz="1600" spc="-30" baseline="0" dirty="0">
                <a:solidFill>
                  <a:srgbClr val="16314A"/>
                </a:solidFill>
              </a:defRPr>
            </a:lvl1pPr>
          </a:lstStyle>
          <a:p>
            <a:pPr marL="228600" lvl="0" indent="-228600" latinLnBrk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BB4FD5F-2724-4E56-B19D-2CBC09323AB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81401" y="2156460"/>
            <a:ext cx="3624263" cy="4004310"/>
          </a:xfrm>
          <a:prstGeom prst="rect">
            <a:avLst/>
          </a:prstGeom>
          <a:ln w="9525">
            <a:solidFill>
              <a:srgbClr val="C4C4C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54800" tIns="126000" rIns="154800" bIns="126000"/>
          <a:lstStyle>
            <a:lvl1pPr marL="0" indent="0">
              <a:buNone/>
              <a:defRPr lang="ko-KR" altLang="en-US" sz="1600" spc="-30" baseline="0" dirty="0">
                <a:solidFill>
                  <a:srgbClr val="16314A"/>
                </a:solidFill>
              </a:defRPr>
            </a:lvl1pPr>
          </a:lstStyle>
          <a:p>
            <a:pPr marL="228600" lvl="0" indent="-228600" latinLnBrk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08D67FC-2070-450A-BE4E-9BDAA4AEE3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72264" y="2156460"/>
            <a:ext cx="3624263" cy="4004310"/>
          </a:xfrm>
          <a:prstGeom prst="rect">
            <a:avLst/>
          </a:prstGeom>
          <a:ln w="9525">
            <a:solidFill>
              <a:srgbClr val="C4C4C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54800" tIns="126000" rIns="154800" bIns="126000"/>
          <a:lstStyle>
            <a:lvl1pPr marL="0" indent="0">
              <a:buNone/>
              <a:defRPr lang="ko-KR" altLang="en-US" sz="1600" spc="-30" baseline="0" dirty="0">
                <a:solidFill>
                  <a:srgbClr val="16314A"/>
                </a:solidFill>
              </a:defRPr>
            </a:lvl1pPr>
          </a:lstStyle>
          <a:p>
            <a:pPr marL="228600" lvl="0" indent="-228600" latinLnBrk="0"/>
            <a:r>
              <a:rPr lang="en-US" altLang="ko-KR" dirty="0"/>
              <a:t>Text</a:t>
            </a:r>
            <a:endParaRPr lang="ko-KR" altLang="en-US" dirty="0"/>
          </a:p>
          <a:p>
            <a:pPr marL="228600" lvl="0" indent="-228600" latinLnBrk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338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CD0DF022-FEFC-4A77-AF71-E1D0534FB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2"/>
          <a:stretch/>
        </p:blipFill>
        <p:spPr>
          <a:xfrm>
            <a:off x="2467" y="0"/>
            <a:ext cx="12187066" cy="973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8D6D72-1504-4573-BDE6-162E9BE3641F}"/>
              </a:ext>
            </a:extLst>
          </p:cNvPr>
          <p:cNvSpPr txBox="1"/>
          <p:nvPr userDrawn="1"/>
        </p:nvSpPr>
        <p:spPr>
          <a:xfrm>
            <a:off x="53784" y="6620749"/>
            <a:ext cx="60973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700" b="1" dirty="0">
                <a:solidFill>
                  <a:srgbClr val="A4A8A9"/>
                </a:solidFill>
              </a:rPr>
              <a:t>2025 Samsung Research. All rights reserved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E3CC8A10-F08E-4C19-A4E2-CBBA324B68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1138" y="241344"/>
            <a:ext cx="1683993" cy="17726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C2DBC20-BF68-4C7B-AF44-5055953AE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9621" y="233344"/>
            <a:ext cx="7404279" cy="461315"/>
          </a:xfrm>
          <a:prstGeom prst="rect">
            <a:avLst/>
          </a:prstGeom>
        </p:spPr>
        <p:txBody>
          <a:bodyPr wrap="none" lIns="0" anchor="ctr"/>
          <a:lstStyle>
            <a:lvl1pPr>
              <a:defRPr sz="2700" b="1"/>
            </a:lvl1pPr>
          </a:lstStyle>
          <a:p>
            <a:r>
              <a:rPr lang="en-US" altLang="ko-KR" dirty="0"/>
              <a:t>Insert your section title</a:t>
            </a:r>
            <a:endParaRPr lang="ko-KR" altLang="en-US" dirty="0"/>
          </a:p>
        </p:txBody>
      </p:sp>
      <p:sp>
        <p:nvSpPr>
          <p:cNvPr id="6" name="텍스트 개체 틀 11">
            <a:extLst>
              <a:ext uri="{FF2B5EF4-FFF2-40B4-BE49-F238E27FC236}">
                <a16:creationId xmlns:a16="http://schemas.microsoft.com/office/drawing/2014/main" id="{DDA98D12-929B-4DA3-A8B1-DDCECE4F66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0537" y="1244227"/>
            <a:ext cx="11219325" cy="641723"/>
          </a:xfrm>
          <a:prstGeom prst="rect">
            <a:avLst/>
          </a:prstGeom>
        </p:spPr>
        <p:txBody>
          <a:bodyPr/>
          <a:lstStyle>
            <a:lvl1pPr marL="361950" indent="-361950">
              <a:lnSpc>
                <a:spcPct val="100000"/>
              </a:lnSpc>
              <a:buSzPct val="70000"/>
              <a:buFontTx/>
              <a:buBlip>
                <a:blip r:embed="rId5"/>
              </a:buBlip>
              <a:defRPr sz="3500" b="1"/>
            </a:lvl1pPr>
          </a:lstStyle>
          <a:p>
            <a:pPr lvl="0"/>
            <a:r>
              <a:rPr lang="en-US" altLang="ko-KR" dirty="0"/>
              <a:t>Write text here</a:t>
            </a:r>
          </a:p>
        </p:txBody>
      </p: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8C7AA727-2D1D-4E85-B975-16EFA6B6EE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138" y="2169717"/>
            <a:ext cx="5457383" cy="40114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262400E-FE97-4E1D-8747-AF0B93FC68A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82137" y="2570858"/>
            <a:ext cx="5457383" cy="1716281"/>
          </a:xfrm>
          <a:prstGeom prst="rect">
            <a:avLst/>
          </a:prstGeom>
          <a:ln w="9525">
            <a:solidFill>
              <a:srgbClr val="C4C4C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54800" tIns="126000" rIns="154800" bIns="126000"/>
          <a:lstStyle>
            <a:lvl1pPr marL="0" indent="0" latinLnBrk="0">
              <a:buFontTx/>
              <a:buNone/>
              <a:defRPr lang="ko-KR" altLang="en-US" sz="1600" spc="-30" baseline="0">
                <a:solidFill>
                  <a:srgbClr val="16314A"/>
                </a:solidFill>
              </a:defRPr>
            </a:lvl1pPr>
            <a:lvl2pPr>
              <a:defRPr lang="ko-KR" altLang="en-US"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ko-KR" altLang="en-US"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ko-KR" altLang="en-US"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ko-KR" altLang="en-US"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L="228600" lvl="0" indent="-228600"/>
            <a:r>
              <a:rPr lang="en-US" altLang="ko-KR" dirty="0"/>
              <a:t>Text</a:t>
            </a:r>
          </a:p>
          <a:p>
            <a:pPr marL="228600" lvl="0" indent="-228600"/>
            <a:endParaRPr lang="ko-KR" altLang="en-US" dirty="0"/>
          </a:p>
        </p:txBody>
      </p:sp>
      <p:sp>
        <p:nvSpPr>
          <p:cNvPr id="16" name="텍스트 개체 틀 8">
            <a:extLst>
              <a:ext uri="{FF2B5EF4-FFF2-40B4-BE49-F238E27FC236}">
                <a16:creationId xmlns:a16="http://schemas.microsoft.com/office/drawing/2014/main" id="{043899A1-87FC-4407-89BD-C016048187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479" y="2169719"/>
            <a:ext cx="5457383" cy="40114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6A29196-4F8A-41C6-AE24-6C68366C764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252478" y="2570859"/>
            <a:ext cx="5457383" cy="1716281"/>
          </a:xfrm>
          <a:prstGeom prst="rect">
            <a:avLst/>
          </a:prstGeom>
          <a:ln w="9525">
            <a:solidFill>
              <a:srgbClr val="C4C4C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54800" tIns="126000" rIns="154800" bIns="126000"/>
          <a:lstStyle>
            <a:lvl1pPr>
              <a:defRPr lang="ko-KR" altLang="en-US" sz="1600" spc="-30" baseline="0" dirty="0">
                <a:solidFill>
                  <a:srgbClr val="16314A"/>
                </a:solidFill>
              </a:defRPr>
            </a:lvl1pPr>
          </a:lstStyle>
          <a:p>
            <a:pPr lvl="0" latinLnBrk="0">
              <a:buFontTx/>
              <a:buNone/>
            </a:pPr>
            <a:r>
              <a:rPr lang="en-US" altLang="ko-KR" dirty="0"/>
              <a:t>Text</a:t>
            </a:r>
          </a:p>
          <a:p>
            <a:pPr lvl="0" latinLnBrk="0">
              <a:buFontTx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110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C00C8293-7A2F-4457-9B36-EBB755EADB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140" y="364503"/>
            <a:ext cx="2298582" cy="241956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A8BC4C77-92D5-49E6-9CD9-07D736F247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1182" y="2369214"/>
            <a:ext cx="8420100" cy="78483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872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0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18AB-D200-564B-05AE-456AF02A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Energy Update Y25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650EA-60C1-CD21-A2B3-AA4B8C352F1B}"/>
              </a:ext>
            </a:extLst>
          </p:cNvPr>
          <p:cNvSpPr txBox="1"/>
          <p:nvPr/>
        </p:nvSpPr>
        <p:spPr>
          <a:xfrm>
            <a:off x="1790700" y="1964011"/>
            <a:ext cx="940562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the grid interactivity of Samsung appliances through SmartThings to usher in the next era of responsive, efficient, and intelligent energy ecosystems.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534E7-D075-BA01-6B41-A41BD74BCA14}"/>
              </a:ext>
            </a:extLst>
          </p:cNvPr>
          <p:cNvSpPr txBox="1"/>
          <p:nvPr/>
        </p:nvSpPr>
        <p:spPr>
          <a:xfrm>
            <a:off x="1790700" y="1092776"/>
            <a:ext cx="960628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Make SmartThings the platform </a:t>
            </a:r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synonymous with energy management, </a:t>
            </a:r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both Utilities and Users. </a:t>
            </a:r>
            <a:r>
              <a:rPr lang="en-IN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(Like how Amazon is for shopping, connecting sellers and buyers)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BDC16-57FC-F1D2-2D5F-9B02D7A717A5}"/>
              </a:ext>
            </a:extLst>
          </p:cNvPr>
          <p:cNvSpPr txBox="1"/>
          <p:nvPr/>
        </p:nvSpPr>
        <p:spPr>
          <a:xfrm>
            <a:off x="335280" y="1917844"/>
            <a:ext cx="217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Thesis: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A6C31-7176-374B-B271-48A0971DC152}"/>
              </a:ext>
            </a:extLst>
          </p:cNvPr>
          <p:cNvSpPr txBox="1"/>
          <p:nvPr/>
        </p:nvSpPr>
        <p:spPr>
          <a:xfrm>
            <a:off x="335280" y="1046609"/>
            <a:ext cx="217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775C6C-528C-204B-765C-A1007567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009" y="3710930"/>
            <a:ext cx="3857773" cy="2133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8183CB-2297-C53B-7DC6-932AFA59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431" y="3710930"/>
            <a:ext cx="3965240" cy="22267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586FC8-0D60-E898-88B9-D8ADEC2D4FF9}"/>
              </a:ext>
            </a:extLst>
          </p:cNvPr>
          <p:cNvSpPr txBox="1"/>
          <p:nvPr/>
        </p:nvSpPr>
        <p:spPr>
          <a:xfrm>
            <a:off x="300991" y="2839309"/>
            <a:ext cx="414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Core Activities this year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9578D61-4B98-3ABB-84C4-1D17B3953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3538523"/>
            <a:ext cx="3342640" cy="24044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04B689-321C-C930-D7E9-55F4386B5E44}"/>
              </a:ext>
            </a:extLst>
          </p:cNvPr>
          <p:cNvSpPr txBox="1"/>
          <p:nvPr/>
        </p:nvSpPr>
        <p:spPr>
          <a:xfrm>
            <a:off x="430849" y="3275119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CB8C26-9FF0-A0E7-ACFF-839C1363F321}"/>
              </a:ext>
            </a:extLst>
          </p:cNvPr>
          <p:cNvSpPr txBox="1"/>
          <p:nvPr/>
        </p:nvSpPr>
        <p:spPr>
          <a:xfrm>
            <a:off x="3971397" y="3275119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Q3*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D60026-FA26-F712-8D62-AAE257080E59}"/>
              </a:ext>
            </a:extLst>
          </p:cNvPr>
          <p:cNvSpPr txBox="1"/>
          <p:nvPr/>
        </p:nvSpPr>
        <p:spPr>
          <a:xfrm>
            <a:off x="8012431" y="3275119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465187-5BAA-2C08-B8C9-D98536F64EB2}"/>
              </a:ext>
            </a:extLst>
          </p:cNvPr>
          <p:cNvSpPr txBox="1"/>
          <p:nvPr/>
        </p:nvSpPr>
        <p:spPr>
          <a:xfrm>
            <a:off x="4077970" y="5843954"/>
            <a:ext cx="334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*subject to NDA and if more demand response events are available from Tata Power this year. </a:t>
            </a:r>
          </a:p>
        </p:txBody>
      </p:sp>
    </p:spTree>
    <p:extLst>
      <p:ext uri="{BB962C8B-B14F-4D97-AF65-F5344CB8AC3E}">
        <p14:creationId xmlns:p14="http://schemas.microsoft.com/office/powerpoint/2010/main" val="390014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msungTemplate.potx" id="{3F9741B6-9214-4C49-8193-EBF810A561BD}" vid="{F9C819AE-D0C8-4201-976B-5DD783877B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SamsungTemplate</Template>
  <TotalTime>190</TotalTime>
  <Words>88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테마</vt:lpstr>
      <vt:lpstr>Energy Update Y25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sayonsom.c@samsung.com</dc:creator>
  <cp:lastModifiedBy>Sayonsom Chanda (25 JSIA)</cp:lastModifiedBy>
  <cp:revision>35</cp:revision>
  <dcterms:created xsi:type="dcterms:W3CDTF">2025-06-02T11:46:48Z</dcterms:created>
  <dcterms:modified xsi:type="dcterms:W3CDTF">2025-06-09T09:14:23Z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